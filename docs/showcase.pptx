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3F51C7"/>
            </a:solidFill>
          </c:spPr>
          <c:cat>
            <c:strRef>
              <c:f>Sheet1!$A$2:$A$5</c:f>
              <c:strCache>
                <c:ptCount val="4"/>
                <c:pt idx="0">
                  <c:v>Q4 '25</c:v>
                </c:pt>
                <c:pt idx="1">
                  <c:v>Q1 '26</c:v>
                </c:pt>
                <c:pt idx="2">
                  <c:v>Q2 '26</c:v>
                </c:pt>
                <c:pt idx="3">
                  <c:v>Q3 '26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4.8</c:v>
                </c:pt>
                <c:pt idx="2">
                  <c:v>5.1</c:v>
                </c:pt>
                <c:pt idx="3">
                  <c:v>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Americas</c:v>
                </c:pt>
              </c:strCache>
            </c:strRef>
          </c:tx>
          <c:spPr>
            <a:solidFill>
              <a:srgbClr val="4CC9F0"/>
            </a:solidFill>
          </c:spPr>
          <c:cat>
            <c:strRef>
              <c:f>Sheet1!$A$2:$A$5</c:f>
              <c:strCache>
                <c:ptCount val="4"/>
                <c:pt idx="0">
                  <c:v>Q4 '25</c:v>
                </c:pt>
                <c:pt idx="1">
                  <c:v>Q1 '26</c:v>
                </c:pt>
                <c:pt idx="2">
                  <c:v>Q2 '26</c:v>
                </c:pt>
                <c:pt idx="3">
                  <c:v>Q3 '26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3.1</c:v>
                </c:pt>
                <c:pt idx="1">
                  <c:v>3.4</c:v>
                </c:pt>
                <c:pt idx="2">
                  <c:v>4.0</c:v>
                </c:pt>
                <c:pt idx="3">
                  <c:v>4.6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 Pacific</c:v>
                </c:pt>
              </c:strCache>
            </c:strRef>
          </c:tx>
          <c:spPr>
            <a:solidFill>
              <a:srgbClr val="FF7A59"/>
            </a:solidFill>
          </c:spPr>
          <c:cat>
            <c:strRef>
              <c:f>Sheet1!$A$2:$A$5</c:f>
              <c:strCache>
                <c:ptCount val="4"/>
                <c:pt idx="0">
                  <c:v>Q4 '25</c:v>
                </c:pt>
                <c:pt idx="1">
                  <c:v>Q1 '26</c:v>
                </c:pt>
                <c:pt idx="2">
                  <c:v>Q2 '26</c:v>
                </c:pt>
                <c:pt idx="3">
                  <c:v>Q3 '26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1.8</c:v>
                </c:pt>
                <c:pt idx="1">
                  <c:v>2.3</c:v>
                </c:pt>
                <c:pt idx="2">
                  <c:v>2.9</c:v>
                </c:pt>
                <c:pt idx="3">
                  <c:v>3.8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&quot;$&quot;0.0&quot;M&quot;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3F51C7"/>
              </a:solidFill>
            </c:spPr>
          </c:dPt>
          <c:dPt>
            <c:idx val="1"/>
            <c:spPr>
              <a:solidFill>
                <a:srgbClr val="4CC9F0"/>
              </a:solidFill>
            </c:spPr>
          </c:dPt>
          <c:dPt>
            <c:idx val="2"/>
            <c:spPr>
              <a:solidFill>
                <a:srgbClr val="FF7A59"/>
              </a:solidFill>
            </c:spPr>
          </c:dPt>
          <c:dPt>
            <c:idx val="3"/>
            <c:spPr>
              <a:solidFill>
                <a:srgbClr val="FFC13D"/>
              </a:solidFill>
            </c:spPr>
          </c:dPt>
          <c:cat>
            <c:strRef>
              <c:f>Sheet1!$A$2:$A$5</c:f>
              <c:strCache>
                <c:ptCount val="4"/>
                <c:pt idx="0">
                  <c:v>Mobile app</c:v>
                </c:pt>
                <c:pt idx="1">
                  <c:v>Web</c:v>
                </c:pt>
                <c:pt idx="2">
                  <c:v>Partner portals</c:v>
                </c:pt>
                <c:pt idx="3">
                  <c:v>Classroom kits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</c:v>
                </c:pt>
                <c:pt idx="1">
                  <c:v>0.31</c:v>
                </c:pt>
                <c:pt idx="2">
                  <c:v>0.15</c:v>
                </c:pt>
                <c:pt idx="3">
                  <c:v>0.08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733"/>
            </a:gs>
            <a:gs pos="100000">
              <a:srgbClr val="303C9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solidFill>
            <a:srgbClr val="3F5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3840480"/>
            <a:ext cx="3108960" cy="3108960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4480560"/>
            <a:ext cx="1463040" cy="1463040"/>
          </a:xfrm>
          <a:prstGeom prst="ellipse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C9F0"/>
                </a:solidFill>
                <a:latin typeface="Liberation Sans"/>
              </a:rPr>
              <a:t>QUARTERLY PRODUCT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Liberation Sans"/>
              </a:rPr>
              <a:t>Northwind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8DCF5"/>
                </a:solidFill>
                <a:latin typeface="Liberation Sans"/>
              </a:rPr>
              <a:t>Q3 results, highlights and the road ahead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0E0"/>
                </a:solidFill>
                <a:latin typeface="Liberation Sans"/>
              </a:rPr>
              <a:t>Product Team  ·  Sample data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C7"/>
                </a:solidFill>
                <a:latin typeface="Liberation San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1F3B"/>
                </a:solidFill>
                <a:latin typeface="Liberation Sans"/>
              </a:rPr>
              <a:t>Quarter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822960" cy="5715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560320" cy="76200"/>
          </a:xfrm>
          <a:prstGeom prst="rect">
            <a:avLst/>
          </a:prstGeom>
          <a:solidFill>
            <a:srgbClr val="3F5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F51C7"/>
                </a:solidFill>
                <a:latin typeface="Liberation Sans"/>
              </a:rPr>
              <a:t>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07A"/>
                </a:solidFill>
                <a:latin typeface="Liberation Sans"/>
              </a:rPr>
              <a:t>growth in weekly active learners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2103120"/>
            <a:ext cx="2560320" cy="762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4231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7A59"/>
                </a:solidFill>
                <a:latin typeface="Liberation Sans"/>
              </a:rPr>
              <a:t>4.7★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3756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07A"/>
                </a:solidFill>
                <a:latin typeface="Liberation Sans"/>
              </a:rPr>
              <a:t>average course rating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2560320" cy="76200"/>
          </a:xfrm>
          <a:prstGeom prst="rect">
            <a:avLst/>
          </a:prstGeom>
          <a:solidFill>
            <a:srgbClr val="2E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EC49A"/>
                </a:solidFill>
                <a:latin typeface="Liberation Sans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3756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07A"/>
                </a:solidFill>
                <a:latin typeface="Liberation Sans"/>
              </a:rPr>
              <a:t>new courses launched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210312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39" y="2103120"/>
            <a:ext cx="2560320" cy="76200"/>
          </a:xfrm>
          <a:prstGeom prst="rect">
            <a:avLst/>
          </a:prstGeom>
          <a:solidFill>
            <a:srgbClr val="FFC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39" y="24231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C13D"/>
                </a:solidFill>
                <a:latin typeface="Liberation Sans"/>
              </a:rPr>
              <a:t>99.95%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333756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07A"/>
                </a:solidFill>
                <a:latin typeface="Liberation Sans"/>
              </a:rPr>
              <a:t>service 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091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defRPr sz="1800">
                <a:solidFill>
                  <a:srgbClr val="1B1F3B"/>
                </a:solidFill>
                <a:latin typeface="Liberation Sans"/>
              </a:defRPr>
              <a:buClr>
                <a:srgbClr val="FF7A59"/>
              </a:buClr>
              <a:buChar char="●"/>
            </a:pPr>
            <a:r>
              <a:t>Mobile app usage overtook desktop for the first time</a:t>
            </a:r>
          </a:p>
          <a:p>
            <a:pPr marL="285750" indent="-285750">
              <a:defRPr sz="1800">
                <a:solidFill>
                  <a:srgbClr val="1B1F3B"/>
                </a:solidFill>
                <a:latin typeface="Liberation Sans"/>
              </a:defRPr>
              <a:buClr>
                <a:srgbClr val="FF7A59"/>
              </a:buClr>
              <a:buChar char="●"/>
            </a:pPr>
            <a:r>
              <a:t>Average session length up from 18 to 24 minutes</a:t>
            </a:r>
          </a:p>
          <a:p>
            <a:pPr marL="285750" indent="-285750">
              <a:defRPr sz="1800">
                <a:solidFill>
                  <a:srgbClr val="1B1F3B"/>
                </a:solidFill>
                <a:latin typeface="Liberation Sans"/>
              </a:defRPr>
              <a:buClr>
                <a:srgbClr val="FF7A59"/>
              </a:buClr>
              <a:buChar char="●"/>
            </a:pPr>
            <a:r>
              <a:t>Support tickets down 21% after the new help centre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C7"/>
                </a:solidFill>
                <a:latin typeface="Liberation Sans"/>
              </a:rPr>
              <a:t>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1F3B"/>
                </a:solidFill>
                <a:latin typeface="Liberation Sans"/>
              </a:rPr>
              <a:t>Revenue by region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822960" cy="5715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28800"/>
          <a:ext cx="10972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C7"/>
                </a:solidFill>
                <a:latin typeface="Liberation Sans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1F3B"/>
                </a:solidFill>
                <a:latin typeface="Liberation Sans"/>
              </a:rPr>
              <a:t>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822960" cy="5715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103120"/>
                <a:gridCol w="2103120"/>
                <a:gridCol w="219456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latin typeface="Liberation Sans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700">
                          <a:latin typeface="Liberation Sans"/>
                        </a:rPr>
                        <a:t>Q2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700">
                          <a:latin typeface="Liberation Sans"/>
                        </a:rPr>
                        <a:t>Q3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700">
                          <a:latin typeface="Liberation Sans"/>
                        </a:rPr>
                        <a:t>Change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Liberation Sans"/>
                        </a:rPr>
                        <a:t>Weekly active learners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latin typeface="Liberation Sans"/>
                        </a:rPr>
                        <a:t>182,400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latin typeface="Liberation Sans"/>
                        </a:rPr>
                        <a:t>251,700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2EC49A"/>
                          </a:solidFill>
                          <a:latin typeface="Liberation Sans"/>
                        </a:rPr>
                        <a:t>+38%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Liberation Sans"/>
                        </a:rPr>
                        <a:t>Course completions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latin typeface="Liberation Sans"/>
                        </a:rPr>
                        <a:t>41,250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latin typeface="Liberation Sans"/>
                        </a:rPr>
                        <a:t>52,900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2EC49A"/>
                          </a:solidFill>
                          <a:latin typeface="Liberation Sans"/>
                        </a:rPr>
                        <a:t>+28%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Liberation Sans"/>
                        </a:rPr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latin typeface="Liberation Sans"/>
                        </a:rPr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latin typeface="Liberation Sans"/>
                        </a:rPr>
                        <a:t>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2EC49A"/>
                          </a:solidFill>
                          <a:latin typeface="Liberation Sans"/>
                        </a:rPr>
                        <a:t>+0.2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Liberation Sans"/>
                        </a:rPr>
                        <a:t>Support tickets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latin typeface="Liberation Sans"/>
                        </a:rPr>
                        <a:t>6,820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latin typeface="Liberation Sans"/>
                        </a:rPr>
                        <a:t>5,390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2EC49A"/>
                          </a:solidFill>
                          <a:latin typeface="Liberation Sans"/>
                        </a:rPr>
                        <a:t>−21%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Liberation Sans"/>
                        </a:rPr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latin typeface="Liberation Sans"/>
                        </a:rPr>
                        <a:t>$11.9M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latin typeface="Liberation Sans"/>
                        </a:rPr>
                        <a:t>$14.3M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2EC49A"/>
                          </a:solidFill>
                          <a:latin typeface="Liberation Sans"/>
                        </a:rPr>
                        <a:t>+20%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7" name="Connector 16"/>
          <p:cNvCxnSpPr/>
          <p:nvPr/>
        </p:nvCxnSpPr>
        <p:spPr>
          <a:xfrm>
            <a:off x="1097280" y="4901184"/>
            <a:ext cx="10058400" cy="0"/>
          </a:xfrm>
          <a:prstGeom prst="line">
            <a:avLst/>
          </a:prstGeom>
          <a:ln w="25400">
            <a:solidFill>
              <a:srgbClr val="C9C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C7"/>
                </a:solidFill>
                <a:latin typeface="Liberation Sans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1F3B"/>
                </a:solidFill>
                <a:latin typeface="Liberation Sans"/>
              </a:rPr>
              <a:t>How a course goes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822960" cy="5715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>
            <a:off x="640080" y="2468880"/>
            <a:ext cx="2971800" cy="1371600"/>
          </a:xfrm>
          <a:prstGeom prst="homePlate">
            <a:avLst/>
          </a:prstGeom>
          <a:solidFill>
            <a:srgbClr val="3F5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Liberation Sans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B607A"/>
                </a:solidFill>
                <a:latin typeface="Liberation Sans"/>
              </a:rPr>
              <a:t>Outline &amp; goals</a:t>
            </a:r>
          </a:p>
        </p:txBody>
      </p:sp>
      <p:sp>
        <p:nvSpPr>
          <p:cNvPr id="7" name="Oval 6"/>
          <p:cNvSpPr/>
          <p:nvPr/>
        </p:nvSpPr>
        <p:spPr>
          <a:xfrm>
            <a:off x="1920239" y="4709160"/>
            <a:ext cx="384048" cy="384048"/>
          </a:xfrm>
          <a:prstGeom prst="ellipse">
            <a:avLst/>
          </a:prstGeom>
          <a:solidFill>
            <a:srgbClr val="3F5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8" name="Chevron 7"/>
          <p:cNvSpPr/>
          <p:nvPr/>
        </p:nvSpPr>
        <p:spPr>
          <a:xfrm>
            <a:off x="3429000" y="2468880"/>
            <a:ext cx="2971800" cy="1371600"/>
          </a:xfrm>
          <a:prstGeom prst="chevron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Liberation Sans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4069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B607A"/>
                </a:solidFill>
                <a:latin typeface="Liberation Sans"/>
              </a:rPr>
              <a:t>Lessons &amp; media</a:t>
            </a:r>
          </a:p>
        </p:txBody>
      </p:sp>
      <p:sp>
        <p:nvSpPr>
          <p:cNvPr id="10" name="Oval 9"/>
          <p:cNvSpPr/>
          <p:nvPr/>
        </p:nvSpPr>
        <p:spPr>
          <a:xfrm>
            <a:off x="4709160" y="4709160"/>
            <a:ext cx="384048" cy="384048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1" name="Chevron 10"/>
          <p:cNvSpPr/>
          <p:nvPr/>
        </p:nvSpPr>
        <p:spPr>
          <a:xfrm>
            <a:off x="6217920" y="2468880"/>
            <a:ext cx="2971800" cy="1371600"/>
          </a:xfrm>
          <a:prstGeom prst="chevron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B607A"/>
                </a:solidFill>
                <a:latin typeface="Liberation Sans"/>
              </a:rPr>
              <a:t>Experts &amp; pilots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4709160"/>
            <a:ext cx="384048" cy="384048"/>
          </a:xfrm>
          <a:prstGeom prst="ellipse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4" name="Chevron 13"/>
          <p:cNvSpPr/>
          <p:nvPr/>
        </p:nvSpPr>
        <p:spPr>
          <a:xfrm>
            <a:off x="9006839" y="2468880"/>
            <a:ext cx="2971800" cy="1371600"/>
          </a:xfrm>
          <a:prstGeom prst="chevron">
            <a:avLst/>
          </a:prstGeom>
          <a:solidFill>
            <a:srgbClr val="2E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Liberation Sans"/>
              </a:rPr>
              <a:t>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4069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B607A"/>
                </a:solidFill>
                <a:latin typeface="Liberation Sans"/>
              </a:rPr>
              <a:t>Publish &amp; promote</a:t>
            </a:r>
          </a:p>
        </p:txBody>
      </p:sp>
      <p:sp>
        <p:nvSpPr>
          <p:cNvPr id="16" name="Oval 15"/>
          <p:cNvSpPr/>
          <p:nvPr/>
        </p:nvSpPr>
        <p:spPr>
          <a:xfrm>
            <a:off x="10286999" y="4709160"/>
            <a:ext cx="384048" cy="384048"/>
          </a:xfrm>
          <a:prstGeom prst="ellipse">
            <a:avLst/>
          </a:prstGeom>
          <a:solidFill>
            <a:srgbClr val="2E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B1F3B"/>
                </a:solidFill>
                <a:latin typeface="Liberation Sans"/>
              </a:rPr>
              <a:t>Average time from plan to launch: 5 weeks (down from 8)</a:t>
            </a:r>
          </a:p>
        </p:txBody>
      </p:sp>
    </p:spTree>
  </p:cSld>
  <p:clrMapOvr>
    <a:masterClrMapping/>
  </p:clrMapOvr>
  <p:transition>
    <p:split orient="vert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C7"/>
                </a:solidFill>
                <a:latin typeface="Liberation Sans"/>
              </a:rPr>
              <a:t>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1F3B"/>
                </a:solidFill>
                <a:latin typeface="Liberation Sans"/>
              </a:rPr>
              <a:t>Where learners come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822960" cy="5715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28800"/>
          <a:ext cx="5943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2377440"/>
            <a:ext cx="320040" cy="320040"/>
          </a:xfrm>
          <a:prstGeom prst="roundRect">
            <a:avLst/>
          </a:prstGeom>
          <a:solidFill>
            <a:srgbClr val="3F5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B1F3B"/>
                </a:solidFill>
                <a:latin typeface="Liberation Sans"/>
              </a:rPr>
              <a:t>Mobile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2286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1F3B"/>
                </a:solidFill>
                <a:latin typeface="Liberation Sans"/>
              </a:rPr>
              <a:t>46%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291840"/>
            <a:ext cx="320040" cy="320040"/>
          </a:xfrm>
          <a:prstGeom prst="round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B1F3B"/>
                </a:solidFill>
                <a:latin typeface="Liberation Sans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3200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1F3B"/>
                </a:solidFill>
                <a:latin typeface="Liberation Sans"/>
              </a:rPr>
              <a:t>31%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4206240"/>
            <a:ext cx="320040" cy="320040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B1F3B"/>
                </a:solidFill>
                <a:latin typeface="Liberation Sans"/>
              </a:rPr>
              <a:t>Partner portals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4114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1F3B"/>
                </a:solidFill>
                <a:latin typeface="Liberation Sans"/>
              </a:rPr>
              <a:t>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5120640"/>
            <a:ext cx="320040" cy="320040"/>
          </a:xfrm>
          <a:prstGeom prst="roundRect">
            <a:avLst/>
          </a:prstGeom>
          <a:solidFill>
            <a:srgbClr val="FFC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B1F3B"/>
                </a:solidFill>
                <a:latin typeface="Liberation Sans"/>
              </a:rPr>
              <a:t>Classroom kits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5029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1F3B"/>
                </a:solidFill>
                <a:latin typeface="Liberation Sans"/>
              </a:rPr>
              <a:t>8%</a:t>
            </a:r>
          </a:p>
        </p:txBody>
      </p:sp>
    </p:spTree>
  </p:cSld>
  <p:clrMapOvr>
    <a:masterClrMapping/>
  </p:clrMapOvr>
  <p:transition>
    <p:circl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733"/>
            </a:gs>
            <a:gs pos="100000">
              <a:srgbClr val="303C9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Liberation San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8DCF5"/>
                </a:solidFill>
                <a:latin typeface="Liberation Sans"/>
              </a:rPr>
              <a:t>Questions and discussion</a:t>
            </a: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Learning Platform - Quarterly Review (sample)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